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97" r:id="rId7"/>
    <p:sldId id="296" r:id="rId8"/>
    <p:sldId id="295" r:id="rId9"/>
    <p:sldId id="262" r:id="rId10"/>
    <p:sldId id="289" r:id="rId11"/>
    <p:sldId id="264" r:id="rId12"/>
    <p:sldId id="258" r:id="rId13"/>
    <p:sldId id="266" r:id="rId14"/>
    <p:sldId id="292" r:id="rId15"/>
    <p:sldId id="26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275B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3F9CBFB-F249-0DAF-0E8E-DE3DA7DB88C5}"/>
              </a:ext>
            </a:extLst>
          </p:cNvPr>
          <p:cNvSpPr txBox="1"/>
          <p:nvPr/>
        </p:nvSpPr>
        <p:spPr>
          <a:xfrm>
            <a:off x="2590800" y="346450"/>
            <a:ext cx="8640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DATA ANALYST </a:t>
            </a:r>
            <a:r>
              <a:rPr lang="en-US" sz="3200" b="1" dirty="0"/>
              <a:t>PORTFOLIO PROJECT</a:t>
            </a:r>
            <a:endParaRPr lang="en-IN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1415D-C377-4E1B-B931-0C7AD75B7950}"/>
              </a:ext>
            </a:extLst>
          </p:cNvPr>
          <p:cNvSpPr txBox="1"/>
          <p:nvPr/>
        </p:nvSpPr>
        <p:spPr>
          <a:xfrm>
            <a:off x="3697939" y="2713146"/>
            <a:ext cx="540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Using </a:t>
            </a:r>
            <a:r>
              <a:rPr lang="en-US" sz="2800" b="1" dirty="0">
                <a:solidFill>
                  <a:srgbClr val="00B050"/>
                </a:solidFill>
              </a:rPr>
              <a:t>Excel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,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SQL</a:t>
            </a: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 and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Power BI</a:t>
            </a:r>
            <a:endParaRPr lang="en-I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077F8-50B5-9153-4EC9-58AAA149B45D}"/>
              </a:ext>
            </a:extLst>
          </p:cNvPr>
          <p:cNvSpPr txBox="1"/>
          <p:nvPr/>
        </p:nvSpPr>
        <p:spPr>
          <a:xfrm>
            <a:off x="1458323" y="4149998"/>
            <a:ext cx="7527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</a:schemeClr>
                </a:solidFill>
              </a:rPr>
              <a:t>                                    </a:t>
            </a:r>
            <a:r>
              <a:rPr lang="en-US" sz="3600" b="1" dirty="0"/>
              <a:t>BY</a:t>
            </a:r>
          </a:p>
          <a:p>
            <a:r>
              <a:rPr lang="en-US" sz="2400" b="1" dirty="0"/>
              <a:t>                                       Pratiksha L </a:t>
            </a:r>
            <a:r>
              <a:rPr lang="en-US" sz="2400" b="1" dirty="0" err="1"/>
              <a:t>Rohankar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85D4F1-D2D7-7AB7-76C4-C4582B263806}"/>
              </a:ext>
            </a:extLst>
          </p:cNvPr>
          <p:cNvSpPr txBox="1"/>
          <p:nvPr/>
        </p:nvSpPr>
        <p:spPr>
          <a:xfrm>
            <a:off x="662867" y="1538452"/>
            <a:ext cx="108662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ONLINE RETAIL RETURN RISK &amp; PROFITABILITY ANALYSIS</a:t>
            </a:r>
            <a:endParaRPr lang="en-IN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sz="3800" b="1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DC357-6EB8-EA72-48A0-437B1D58D44B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1028" name="Picture 4" descr="microsoft excel icon logo symbol 27179360 PNG">
            <a:extLst>
              <a:ext uri="{FF2B5EF4-FFF2-40B4-BE49-F238E27FC236}">
                <a16:creationId xmlns:a16="http://schemas.microsoft.com/office/drawing/2014/main" id="{95CFA1A8-2103-2DCA-338C-08310DEDC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8120"/>
            <a:ext cx="2622176" cy="248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Excel Alt macOS - free Icon PNG, SVG">
            <a:extLst>
              <a:ext uri="{FF2B5EF4-FFF2-40B4-BE49-F238E27FC236}">
                <a16:creationId xmlns:a16="http://schemas.microsoft.com/office/drawing/2014/main" id="{16140949-84D1-449B-E850-755E6915E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645138B-F647-7C24-299E-64EFEFD08473}"/>
              </a:ext>
            </a:extLst>
          </p:cNvPr>
          <p:cNvSpPr txBox="1"/>
          <p:nvPr/>
        </p:nvSpPr>
        <p:spPr>
          <a:xfrm>
            <a:off x="129889" y="728247"/>
            <a:ext cx="272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OPEN RAW DATA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78D265-26AD-0858-F62A-C18C88157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424" y="1239806"/>
            <a:ext cx="9761785" cy="54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B492-CD68-491F-EED5-463B2E90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D31B6-F9A9-2277-9766-E11EB5EE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AA463-71FD-F884-C989-18911915BD9E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1030" name="Picture 6" descr="Microsoft Excel Alt macOS - free Icon PNG, SVG">
            <a:extLst>
              <a:ext uri="{FF2B5EF4-FFF2-40B4-BE49-F238E27FC236}">
                <a16:creationId xmlns:a16="http://schemas.microsoft.com/office/drawing/2014/main" id="{4E4A3D09-F854-A46A-CCBD-91A327DFB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5AAB98-4E26-03C8-088B-AA02587B023E}"/>
              </a:ext>
            </a:extLst>
          </p:cNvPr>
          <p:cNvSpPr txBox="1"/>
          <p:nvPr/>
        </p:nvSpPr>
        <p:spPr>
          <a:xfrm>
            <a:off x="129889" y="728247"/>
            <a:ext cx="3285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DATA PREPARATION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7C5FA-FA52-B56C-49B8-68B386DF7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9" y="1286452"/>
            <a:ext cx="11932124" cy="532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8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D599-324C-33C6-57A9-6C2B0E01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2A0C5ED-14EF-83D1-9849-74369170BBA2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BBA00-29B9-00DF-4C40-9F552328E223}"/>
              </a:ext>
            </a:extLst>
          </p:cNvPr>
          <p:cNvSpPr txBox="1"/>
          <p:nvPr/>
        </p:nvSpPr>
        <p:spPr>
          <a:xfrm>
            <a:off x="357808" y="2129862"/>
            <a:ext cx="223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IMPORT DATA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3" name="Picture 12" descr="Data Import / Export through files — CMDBuild">
            <a:extLst>
              <a:ext uri="{FF2B5EF4-FFF2-40B4-BE49-F238E27FC236}">
                <a16:creationId xmlns:a16="http://schemas.microsoft.com/office/drawing/2014/main" id="{0484FDEF-8B8A-B881-381A-076897244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09" y="2129862"/>
            <a:ext cx="3025938" cy="285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33A002-DB5E-A11D-8838-CBA48675C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555" y="1365244"/>
            <a:ext cx="8390884" cy="4779218"/>
          </a:xfrm>
          <a:prstGeom prst="rect">
            <a:avLst/>
          </a:prstGeom>
        </p:spPr>
      </p:pic>
      <p:pic>
        <p:nvPicPr>
          <p:cNvPr id="15" name="Picture 14" descr="Data Import / Export through files — CMDBuild">
            <a:extLst>
              <a:ext uri="{FF2B5EF4-FFF2-40B4-BE49-F238E27FC236}">
                <a16:creationId xmlns:a16="http://schemas.microsoft.com/office/drawing/2014/main" id="{D78CEFE7-8886-EC9E-3748-17E7E7930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70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1415-F9ED-6161-61E6-A842A82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A30B8F-A6A0-F5A4-D3B3-611D7276B462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 descr="Data Import / Export through files — CMDBuild">
            <a:extLst>
              <a:ext uri="{FF2B5EF4-FFF2-40B4-BE49-F238E27FC236}">
                <a16:creationId xmlns:a16="http://schemas.microsoft.com/office/drawing/2014/main" id="{F12FFB76-11CC-CD10-0D2A-56DBA0D8D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103AC8-928D-1773-A0C1-1EEFD125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5" y="868699"/>
            <a:ext cx="11504149" cy="564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1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3E40F82E-0244-DF74-8D83-B934668C3B80}"/>
              </a:ext>
            </a:extLst>
          </p:cNvPr>
          <p:cNvSpPr txBox="1"/>
          <p:nvPr/>
        </p:nvSpPr>
        <p:spPr>
          <a:xfrm>
            <a:off x="251791" y="778141"/>
            <a:ext cx="272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WRITING QUERIE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89BA9-8DFA-080C-F468-71B6378E6F3D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Picture 30" descr="Data Import / Export through files — CMDBuild">
            <a:extLst>
              <a:ext uri="{FF2B5EF4-FFF2-40B4-BE49-F238E27FC236}">
                <a16:creationId xmlns:a16="http://schemas.microsoft.com/office/drawing/2014/main" id="{47158F90-8249-D7F8-D4B8-5B10FA7E5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6A7371-AD7A-D0A0-A60C-BDA744378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1" y="1386241"/>
            <a:ext cx="11676050" cy="520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586FF3F-2049-9C64-D9AB-B2A48FC58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78" y="148696"/>
            <a:ext cx="1431235" cy="6538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5B19CFC-D852-5FC2-5E06-43B74F41BA82}"/>
              </a:ext>
            </a:extLst>
          </p:cNvPr>
          <p:cNvSpPr txBox="1"/>
          <p:nvPr/>
        </p:nvSpPr>
        <p:spPr>
          <a:xfrm>
            <a:off x="0" y="95960"/>
            <a:ext cx="1749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endParaRPr lang="en-IN" sz="2800" b="1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4AAD52-705C-743A-BAF6-57F560F0F4CE}"/>
              </a:ext>
            </a:extLst>
          </p:cNvPr>
          <p:cNvSpPr txBox="1"/>
          <p:nvPr/>
        </p:nvSpPr>
        <p:spPr>
          <a:xfrm>
            <a:off x="238538" y="1294976"/>
            <a:ext cx="7305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CONNECTING Power BI To </a:t>
            </a:r>
            <a:r>
              <a:rPr lang="en-IN" sz="2400" b="1" dirty="0">
                <a:highlight>
                  <a:srgbClr val="FFFF00"/>
                </a:highlight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DB Browser for SQLite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A1DC072-52E5-6369-2AAC-414FFAB94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208" y="2939749"/>
            <a:ext cx="3293453" cy="1764773"/>
          </a:xfrm>
          <a:prstGeom prst="rect">
            <a:avLst/>
          </a:prstGeom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D0EBED85-7636-AD72-BC15-536E49BF36F5}"/>
              </a:ext>
            </a:extLst>
          </p:cNvPr>
          <p:cNvSpPr/>
          <p:nvPr/>
        </p:nvSpPr>
        <p:spPr>
          <a:xfrm>
            <a:off x="4428448" y="3429000"/>
            <a:ext cx="2939760" cy="830997"/>
          </a:xfrm>
          <a:prstGeom prst="rightArrow">
            <a:avLst/>
          </a:prstGeom>
          <a:gradFill>
            <a:gsLst>
              <a:gs pos="0">
                <a:srgbClr val="FABE05"/>
              </a:gs>
              <a:gs pos="100000">
                <a:schemeClr val="tx1">
                  <a:lumMod val="5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Picture 36" descr="Add, create, database, hd, new, plus, server icon - Download on Iconfinder">
            <a:extLst>
              <a:ext uri="{FF2B5EF4-FFF2-40B4-BE49-F238E27FC236}">
                <a16:creationId xmlns:a16="http://schemas.microsoft.com/office/drawing/2014/main" id="{AB6FFBB1-8CC2-44A0-5EAD-BC0EEF0E5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8" y="2618431"/>
            <a:ext cx="2599207" cy="264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FE6A6C-59EA-ACDA-5E40-039A5701E0B9}"/>
              </a:ext>
            </a:extLst>
          </p:cNvPr>
          <p:cNvSpPr txBox="1"/>
          <p:nvPr/>
        </p:nvSpPr>
        <p:spPr>
          <a:xfrm>
            <a:off x="1164773" y="4969252"/>
            <a:ext cx="2881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PROCESSING</a:t>
            </a:r>
            <a:endParaRPr lang="en-IN" sz="2400" b="1" dirty="0">
              <a:highlight>
                <a:srgbClr val="FFFF00"/>
              </a:highlight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65E0AA-BA0A-0C06-1184-C54D07862E0E}"/>
              </a:ext>
            </a:extLst>
          </p:cNvPr>
          <p:cNvSpPr txBox="1"/>
          <p:nvPr/>
        </p:nvSpPr>
        <p:spPr>
          <a:xfrm>
            <a:off x="7733774" y="4890031"/>
            <a:ext cx="329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7B383F-4153-F1B0-AD89-92BBAA326FAA}"/>
              </a:ext>
            </a:extLst>
          </p:cNvPr>
          <p:cNvSpPr txBox="1"/>
          <p:nvPr/>
        </p:nvSpPr>
        <p:spPr>
          <a:xfrm>
            <a:off x="99391" y="92766"/>
            <a:ext cx="2451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endParaRPr lang="en-IN" sz="2800" b="1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D3B7E2-FCC1-2799-3478-E34967A72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42" y="64101"/>
            <a:ext cx="1039601" cy="584775"/>
          </a:xfrm>
          <a:prstGeom prst="rect">
            <a:avLst/>
          </a:prstGeom>
          <a:effectLst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E88FF1-EF31-0826-2FE4-313B48D3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677541"/>
            <a:ext cx="11765280" cy="604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B8B063-8C79-EC2B-1F53-A6CFB7328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79" y="0"/>
            <a:ext cx="1229802" cy="65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D9FDA7-4E0A-5339-7C27-C385200DA7DC}"/>
              </a:ext>
            </a:extLst>
          </p:cNvPr>
          <p:cNvSpPr txBox="1"/>
          <p:nvPr/>
        </p:nvSpPr>
        <p:spPr>
          <a:xfrm>
            <a:off x="0" y="95960"/>
            <a:ext cx="1749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endParaRPr lang="en-IN" sz="2800" b="1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41A28-4600-2DAF-E296-324D9ECFF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1" y="855254"/>
            <a:ext cx="11724640" cy="58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E10E704-A2A5-8B2D-38C8-AC4A44E698C6}"/>
              </a:ext>
            </a:extLst>
          </p:cNvPr>
          <p:cNvSpPr txBox="1"/>
          <p:nvPr/>
        </p:nvSpPr>
        <p:spPr>
          <a:xfrm>
            <a:off x="0" y="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D275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  <a:p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Despite generating strong total sales of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8.81M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the company is facing significant profit reduction due to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 product return losses (597.6K)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/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 overall return rate of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6.78%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appears moderate, but deeper analysis shows that return losses are:</a:t>
            </a:r>
          </a:p>
          <a:p>
            <a:pPr algn="just"/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Concentrated in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specific months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especially a major spike in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December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Driven by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 few high-return products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particularly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Paper Craft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Highly impacted by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one major country (United Kingdom)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Influenced by a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small group of high-risk customers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Associated with certain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product categories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DE1063D7-6576-3F96-2767-F245F2452E6B}"/>
              </a:ext>
            </a:extLst>
          </p:cNvPr>
          <p:cNvSpPr txBox="1"/>
          <p:nvPr/>
        </p:nvSpPr>
        <p:spPr>
          <a:xfrm>
            <a:off x="0" y="0"/>
            <a:ext cx="121920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E9E6D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1: </a:t>
            </a:r>
            <a:r>
              <a:rPr lang="en-US" sz="2000" b="1" dirty="0">
                <a:solidFill>
                  <a:srgbClr val="DD275B"/>
                </a:solidFill>
                <a:highlight>
                  <a:srgbClr val="E9E6D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SUMMARY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Performance Indicators(KPI’s) Requirement</a:t>
            </a:r>
          </a:p>
          <a:p>
            <a:pPr algn="just"/>
            <a:endParaRPr lang="en-US" b="1" dirty="0"/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Sales: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Track overall sales revenue with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MTD (Month-To-Date)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MoM (Month-over-Month)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growth to monitor business performance trends.</a:t>
            </a:r>
          </a:p>
          <a:p>
            <a:pPr algn="just"/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 Revenue: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Measure actual revenue after deducting return losses and analyze monthly profitability trends.</a:t>
            </a:r>
          </a:p>
          <a:p>
            <a:pPr algn="just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Return Rate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Calculate the percentage of returned items out of total sales and track monthly fluctuations to identify return risk patterns.</a:t>
            </a:r>
          </a:p>
          <a:p>
            <a:pPr algn="just"/>
            <a:endParaRPr lang="en-US" sz="1600" b="1" dirty="0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Return Loss: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Monitor total financial loss caused by product returns and analyze month-wise spikes (especially seasonal impacts like December).</a:t>
            </a:r>
          </a:p>
          <a:p>
            <a:pPr algn="just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Monthly Return Loss Trend: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Analyze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Year-Month return loss trends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to detect seasonal spikes and abnormal return behavior.</a:t>
            </a:r>
          </a:p>
          <a:p>
            <a:pPr algn="just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Monthly Return Rate Trend: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Track monthly return rate percentage to identify high-risk periods.</a:t>
            </a:r>
          </a:p>
          <a:p>
            <a:pPr algn="just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Country-Level Return Loss: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Measure total return loss by country to identify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geographical risk concentration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/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Product-Level Return Loss: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Track top products contributing to return loss to identify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high-risk items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(e.g., Paper Craft).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D1639CD-A45F-98D3-4A09-2383CADC441F}"/>
              </a:ext>
            </a:extLst>
          </p:cNvPr>
          <p:cNvSpPr txBox="1"/>
          <p:nvPr/>
        </p:nvSpPr>
        <p:spPr>
          <a:xfrm>
            <a:off x="0" y="0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E9E6D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1: </a:t>
            </a:r>
            <a:r>
              <a:rPr lang="en-US" b="1" dirty="0">
                <a:solidFill>
                  <a:srgbClr val="DD275B"/>
                </a:solidFill>
                <a:highlight>
                  <a:srgbClr val="E9E6D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SUMMARY</a:t>
            </a:r>
          </a:p>
          <a:p>
            <a:endParaRPr lang="en-US" b="1" dirty="0">
              <a:solidFill>
                <a:srgbClr val="DD275B"/>
              </a:solidFill>
              <a:highlight>
                <a:srgbClr val="E9E6D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b="1" dirty="0"/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Performance Indicators(KPI’s) Requirement</a:t>
            </a:r>
          </a:p>
          <a:p>
            <a:endParaRPr lang="en-US" b="1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Total Sales: </a:t>
            </a:r>
            <a:r>
              <a:rPr lang="en-US" b="1" dirty="0"/>
              <a:t>Track overall sales </a:t>
            </a:r>
            <a:r>
              <a:rPr lang="en-US" dirty="0"/>
              <a:t>to measure revenue exposure across customers and categories.</a:t>
            </a:r>
          </a:p>
          <a:p>
            <a:pPr algn="just"/>
            <a:endParaRPr lang="en-US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Net Revenue: </a:t>
            </a:r>
            <a:r>
              <a:rPr lang="en-US" b="1" dirty="0"/>
              <a:t>Monitor profit </a:t>
            </a:r>
            <a:r>
              <a:rPr lang="en-US" dirty="0"/>
              <a:t>after returns to evaluate financial impact.</a:t>
            </a:r>
          </a:p>
          <a:p>
            <a:pPr algn="just"/>
            <a:endParaRPr lang="en-US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Return Rate %: </a:t>
            </a:r>
            <a:r>
              <a:rPr lang="en-US" b="1" dirty="0"/>
              <a:t>Measure return percentage </a:t>
            </a:r>
            <a:r>
              <a:rPr lang="en-US" dirty="0"/>
              <a:t>to identify overall risk levels.</a:t>
            </a:r>
          </a:p>
          <a:p>
            <a:pPr algn="just"/>
            <a:endParaRPr lang="en-US" sz="1900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Total Return Loss: </a:t>
            </a:r>
            <a:r>
              <a:rPr lang="en-US" b="1" dirty="0"/>
              <a:t>Trak total loss </a:t>
            </a:r>
            <a:r>
              <a:rPr lang="en-US" dirty="0"/>
              <a:t>from returns to understand cost impact.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Customer Risk Segmentation: </a:t>
            </a:r>
            <a:r>
              <a:rPr lang="en-US" dirty="0"/>
              <a:t>Classify customers into </a:t>
            </a:r>
            <a:r>
              <a:rPr lang="en-US" b="1" dirty="0"/>
              <a:t>High, Moderate, and Low </a:t>
            </a:r>
            <a:r>
              <a:rPr lang="en-US" dirty="0"/>
              <a:t>risk based on return behavior.</a:t>
            </a:r>
          </a:p>
          <a:p>
            <a:pPr algn="just"/>
            <a:endParaRPr lang="en-US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Customer Risk Quadrant Analysis: </a:t>
            </a:r>
            <a:r>
              <a:rPr lang="en-US" dirty="0"/>
              <a:t>Compare Sales vs Return Loss to identify </a:t>
            </a:r>
            <a:r>
              <a:rPr lang="en-US" b="1" dirty="0"/>
              <a:t>high-risk and profitable</a:t>
            </a:r>
            <a:r>
              <a:rPr lang="en-US" dirty="0"/>
              <a:t> customers.</a:t>
            </a:r>
          </a:p>
          <a:p>
            <a:pPr algn="just"/>
            <a:endParaRPr lang="en-US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Category Performance Overview: </a:t>
            </a:r>
            <a:r>
              <a:rPr lang="en-US" dirty="0"/>
              <a:t>Analyze Sales, Return Loss, and Net Revenue by category.</a:t>
            </a:r>
          </a:p>
          <a:p>
            <a:pPr algn="just"/>
            <a:endParaRPr lang="en-US" dirty="0"/>
          </a:p>
          <a:p>
            <a:pPr algn="just"/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Return Driver Heatmap: </a:t>
            </a:r>
            <a:r>
              <a:rPr lang="en-US" dirty="0"/>
              <a:t>Identify </a:t>
            </a:r>
            <a:r>
              <a:rPr lang="en-US" b="1" dirty="0"/>
              <a:t>high-return countries and categories </a:t>
            </a:r>
            <a:r>
              <a:rPr lang="en-US" dirty="0"/>
              <a:t>driving 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5CF0D9-42AC-5604-11EA-F25E3DBAB811}"/>
              </a:ext>
            </a:extLst>
          </p:cNvPr>
          <p:cNvSpPr txBox="1"/>
          <p:nvPr/>
        </p:nvSpPr>
        <p:spPr>
          <a:xfrm>
            <a:off x="4465983" y="2928731"/>
            <a:ext cx="367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{52C6A15F-3C08-4005-A54F-922801501431}TF1ed81438-95a7-4ae9-841d-43ea2c64f7fc8ae7ff09_win32-aa52a5bb69e3</Template>
  <TotalTime>136</TotalTime>
  <Words>461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Pratiksha R</dc:creator>
  <cp:lastModifiedBy>Pratiksha R</cp:lastModifiedBy>
  <cp:revision>6</cp:revision>
  <dcterms:created xsi:type="dcterms:W3CDTF">2026-03-01T16:51:56Z</dcterms:created>
  <dcterms:modified xsi:type="dcterms:W3CDTF">2026-03-03T09:32:41Z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